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4"/>
  </p:sldMasterIdLst>
  <p:notesMasterIdLst>
    <p:notesMasterId r:id="rId17"/>
  </p:notesMasterIdLst>
  <p:sldIdLst>
    <p:sldId id="256" r:id="rId5"/>
    <p:sldId id="268" r:id="rId6"/>
    <p:sldId id="257" r:id="rId7"/>
    <p:sldId id="267" r:id="rId8"/>
    <p:sldId id="258" r:id="rId9"/>
    <p:sldId id="260" r:id="rId10"/>
    <p:sldId id="269" r:id="rId11"/>
    <p:sldId id="270" r:id="rId12"/>
    <p:sldId id="271" r:id="rId13"/>
    <p:sldId id="272" r:id="rId14"/>
    <p:sldId id="273" r:id="rId15"/>
    <p:sldId id="27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95394" autoAdjust="0"/>
  </p:normalViewPr>
  <p:slideViewPr>
    <p:cSldViewPr snapToGrid="0">
      <p:cViewPr varScale="1">
        <p:scale>
          <a:sx n="105" d="100"/>
          <a:sy n="105" d="100"/>
        </p:scale>
        <p:origin x="5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1DDA46-6C28-46E2-BEB0-3E13EAA106B9}" type="datetimeFigureOut">
              <a:rPr lang="en-US" smtClean="0"/>
              <a:t>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362A8-3913-4B3F-B328-B5250529B44B}" type="slidenum">
              <a:rPr lang="en-US" smtClean="0"/>
              <a:t>‹#›</a:t>
            </a:fld>
            <a:endParaRPr lang="en-US"/>
          </a:p>
        </p:txBody>
      </p:sp>
    </p:spTree>
    <p:extLst>
      <p:ext uri="{BB962C8B-B14F-4D97-AF65-F5344CB8AC3E}">
        <p14:creationId xmlns:p14="http://schemas.microsoft.com/office/powerpoint/2010/main" val="3771783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36B2EE88-2FE1-4158-A303-A6629C414B0F}" type="datetime1">
              <a:rPr lang="en-US" smtClean="0"/>
              <a:t>5/2/2026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1292797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E1360F-8904-427E-8439-4E252C808532}" type="datetime1">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22094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230EA8A-5069-462A-B3B2-EEDFB7FD2898}" type="datetime1">
              <a:rPr lang="en-US" smtClean="0"/>
              <a:t>5/2/2026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229652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EAB341-5828-4F2A-B4B5-97B2CDC081D3}" type="datetime1">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2509394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4FB9E8-5B04-4B3B-9CE8-9F3B55503B69}" type="datetime1">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825100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97753D3-068C-40B4-A53D-531E7C06DF3D}" type="datetime1">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CBC6F9-63DC-418A-A30A-9A9F771FE38A}"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2954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3D5050-5CC0-4025-A56F-71C1DD32D07A}" type="datetime1">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4214348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8DBBFD9-A65D-4908-BC38-18FC29CE1D90}" type="datetime1">
              <a:rPr lang="en-US" smtClean="0"/>
              <a:t>5/2/2026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3970484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ECD135-96A2-4107-ADF6-532E8E2D5CE6}" type="datetime1">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329308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BCF3B0-BDDA-41D9-9287-41A35EB9CD8C}" type="datetime1">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1538565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3CE3ED13-B75C-419F-BD61-C1C3742FFF2C}" type="datetime1">
              <a:rPr lang="en-US" smtClean="0"/>
              <a:t>5/2/2026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2979081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4C970A1D-5DA7-45AC-B505-2B1B1A217DD4}" type="datetime1">
              <a:rPr lang="en-US" smtClean="0"/>
              <a:t>5/2/2026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2CBC6F9-63DC-418A-A30A-9A9F771FE38A}"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Tree>
    <p:extLst>
      <p:ext uri="{BB962C8B-B14F-4D97-AF65-F5344CB8AC3E}">
        <p14:creationId xmlns:p14="http://schemas.microsoft.com/office/powerpoint/2010/main" val="164367864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68685-B359-45DA-B460-1EECCD6023A2}"/>
              </a:ext>
            </a:extLst>
          </p:cNvPr>
          <p:cNvSpPr>
            <a:spLocks noGrp="1"/>
          </p:cNvSpPr>
          <p:nvPr>
            <p:ph type="ctrTitle"/>
          </p:nvPr>
        </p:nvSpPr>
        <p:spPr>
          <a:xfrm>
            <a:off x="3527257" y="775022"/>
            <a:ext cx="5137484" cy="1554480"/>
          </a:xfrm>
        </p:spPr>
        <p:txBody>
          <a:bodyPr>
            <a:normAutofit/>
          </a:bodyPr>
          <a:lstStyle/>
          <a:p>
            <a:pPr lvl="0" algn="ctr" defTabSz="914400" eaLnBrk="0" fontAlgn="base" hangingPunct="0">
              <a:spcAft>
                <a:spcPct val="0"/>
              </a:spcAft>
            </a:pPr>
            <a: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Mansoura University</a:t>
            </a:r>
            <a:br>
              <a:rPr lang="en-US" altLang="en-US" sz="2000" cap="none" dirty="0">
                <a:solidFill>
                  <a:schemeClr val="tx1"/>
                </a:solidFill>
              </a:rPr>
            </a:br>
            <a: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Faculty of Computers and Information</a:t>
            </a:r>
            <a:br>
              <a:rPr lang="en-US" altLang="en-US" sz="2000" cap="none" dirty="0">
                <a:solidFill>
                  <a:schemeClr val="tx1"/>
                </a:solidFill>
              </a:rPr>
            </a:br>
            <a:r>
              <a:rPr lang="en-US" altLang="en-US" sz="2000" b="1" cap="none" dirty="0">
                <a:solidFill>
                  <a:schemeClr val="tx1"/>
                </a:solidFill>
                <a:latin typeface="Times New Roman" panose="02020603050405020304" pitchFamily="18" charset="0"/>
                <a:cs typeface="Times New Roman" panose="02020603050405020304" pitchFamily="18" charset="0"/>
              </a:rPr>
              <a:t>Second</a:t>
            </a:r>
            <a: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Semester- 2025-2026</a:t>
            </a:r>
            <a:b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US" sz="2000" dirty="0">
              <a:solidFill>
                <a:schemeClr val="tx1"/>
              </a:solidFill>
            </a:endParaRPr>
          </a:p>
        </p:txBody>
      </p:sp>
      <p:sp>
        <p:nvSpPr>
          <p:cNvPr id="3" name="Subtitle 2">
            <a:extLst>
              <a:ext uri="{FF2B5EF4-FFF2-40B4-BE49-F238E27FC236}">
                <a16:creationId xmlns:a16="http://schemas.microsoft.com/office/drawing/2014/main" id="{6DA7A5C2-8543-44E4-A501-03CF3E33BB27}"/>
              </a:ext>
            </a:extLst>
          </p:cNvPr>
          <p:cNvSpPr>
            <a:spLocks noGrp="1"/>
          </p:cNvSpPr>
          <p:nvPr>
            <p:ph type="subTitle" idx="1"/>
          </p:nvPr>
        </p:nvSpPr>
        <p:spPr>
          <a:xfrm>
            <a:off x="2038812" y="3447698"/>
            <a:ext cx="8114373" cy="2635280"/>
          </a:xfrm>
          <a:effectLst/>
        </p:spPr>
        <p:txBody>
          <a:bodyPr vert="horz" lIns="91440" tIns="45720" rIns="91440" bIns="45720" rtlCol="0" anchor="b">
            <a:normAutofit fontScale="92500"/>
          </a:bodyPr>
          <a:lstStyle/>
          <a:p>
            <a:pPr algn="ctr" defTabSz="914400" eaLnBrk="0" fontAlgn="base" hangingPunct="0">
              <a:lnSpc>
                <a:spcPct val="150000"/>
              </a:lnSpc>
              <a:spcBef>
                <a:spcPct val="0"/>
              </a:spcBef>
              <a:spcAft>
                <a:spcPct val="0"/>
              </a:spcAft>
            </a:pPr>
            <a:r>
              <a:rPr lang="en-US" sz="2400" b="1" cap="none" dirty="0">
                <a:solidFill>
                  <a:schemeClr val="bg1"/>
                </a:solidFill>
                <a:latin typeface="Times New Roman" panose="02020603050405020304" pitchFamily="18" charset="0"/>
                <a:cs typeface="Times New Roman" panose="02020603050405020304" pitchFamily="18" charset="0"/>
              </a:rPr>
              <a:t>OOP Project</a:t>
            </a:r>
          </a:p>
          <a:p>
            <a:pPr algn="ctr" defTabSz="914400" eaLnBrk="0" fontAlgn="base" hangingPunct="0">
              <a:lnSpc>
                <a:spcPct val="150000"/>
              </a:lnSpc>
              <a:spcBef>
                <a:spcPct val="0"/>
              </a:spcBef>
              <a:spcAft>
                <a:spcPct val="0"/>
              </a:spcAft>
            </a:pPr>
            <a:r>
              <a:rPr lang="en-US" sz="2400" dirty="0"/>
              <a:t>Restaurant with Calorie Management System</a:t>
            </a:r>
          </a:p>
          <a:p>
            <a:pPr algn="ctr" defTabSz="914400" eaLnBrk="0" fontAlgn="base" hangingPunct="0">
              <a:lnSpc>
                <a:spcPct val="150000"/>
              </a:lnSpc>
              <a:spcBef>
                <a:spcPct val="0"/>
              </a:spcBef>
              <a:spcAft>
                <a:spcPct val="0"/>
              </a:spcAft>
            </a:pPr>
            <a:r>
              <a:rPr lang="en-US" sz="2400" dirty="0"/>
              <a:t> </a:t>
            </a:r>
            <a:r>
              <a:rPr lang="ar-EG" sz="2400" dirty="0"/>
              <a:t>مطعم مع نظام حساب سعرات الطعام</a:t>
            </a:r>
            <a:endParaRPr lang="en-US" sz="2400" dirty="0"/>
          </a:p>
          <a:p>
            <a:pPr algn="ctr" defTabSz="914400" eaLnBrk="0" fontAlgn="base" hangingPunct="0">
              <a:lnSpc>
                <a:spcPct val="150000"/>
              </a:lnSpc>
              <a:spcBef>
                <a:spcPct val="0"/>
              </a:spcBef>
              <a:spcAft>
                <a:spcPct val="0"/>
              </a:spcAft>
            </a:pPr>
            <a:r>
              <a:rPr lang="en-US" sz="2400" b="1" cap="none" dirty="0">
                <a:solidFill>
                  <a:schemeClr val="bg1"/>
                </a:solidFill>
                <a:latin typeface="Times New Roman" panose="02020603050405020304" pitchFamily="18" charset="0"/>
                <a:cs typeface="Times New Roman" panose="02020603050405020304" pitchFamily="18" charset="0"/>
              </a:rPr>
              <a:t>SEC: 48</a:t>
            </a:r>
            <a:endParaRPr lang="en-US" sz="2400" b="1" dirty="0">
              <a:solidFill>
                <a:schemeClr val="bg1"/>
              </a:solidFill>
              <a:latin typeface="Times New Roman" panose="02020603050405020304" pitchFamily="18" charset="0"/>
              <a:cs typeface="Times New Roman" panose="02020603050405020304" pitchFamily="18" charset="0"/>
            </a:endParaRPr>
          </a:p>
          <a:p>
            <a:pPr algn="ctr" defTabSz="914400" eaLnBrk="0" fontAlgn="base" hangingPunct="0">
              <a:lnSpc>
                <a:spcPct val="150000"/>
              </a:lnSpc>
              <a:spcBef>
                <a:spcPct val="0"/>
              </a:spcBef>
              <a:spcAft>
                <a:spcPct val="0"/>
              </a:spcAft>
            </a:pPr>
            <a:r>
              <a:rPr lang="en-US" sz="2400" b="1" cap="none" dirty="0">
                <a:solidFill>
                  <a:schemeClr val="bg1"/>
                </a:solidFill>
                <a:latin typeface="Times New Roman" panose="02020603050405020304" pitchFamily="18" charset="0"/>
                <a:cs typeface="Times New Roman" panose="02020603050405020304" pitchFamily="18" charset="0"/>
              </a:rPr>
              <a:t>Eng. Mohammed Kamal</a:t>
            </a:r>
          </a:p>
          <a:p>
            <a:pPr algn="ctr" defTabSz="914400" eaLnBrk="0" fontAlgn="base" hangingPunct="0">
              <a:lnSpc>
                <a:spcPct val="150000"/>
              </a:lnSpc>
              <a:spcBef>
                <a:spcPct val="0"/>
              </a:spcBef>
              <a:spcAft>
                <a:spcPct val="0"/>
              </a:spcAft>
            </a:pPr>
            <a:endParaRPr lang="en-US" sz="2400" b="1" cap="none" dirty="0">
              <a:solidFill>
                <a:schemeClr val="bg1"/>
              </a:solidFill>
              <a:latin typeface="Times New Roman" panose="02020603050405020304" pitchFamily="18" charset="0"/>
              <a:cs typeface="Times New Roman" panose="02020603050405020304" pitchFamily="18" charset="0"/>
            </a:endParaRPr>
          </a:p>
        </p:txBody>
      </p:sp>
      <p:pic>
        <p:nvPicPr>
          <p:cNvPr id="6" name="Picture 5" descr="Logo&#10;&#10;Description automatically generated">
            <a:extLst>
              <a:ext uri="{FF2B5EF4-FFF2-40B4-BE49-F238E27FC236}">
                <a16:creationId xmlns:a16="http://schemas.microsoft.com/office/drawing/2014/main" id="{38BA3B7A-16DD-43FB-B4E4-A617E0AF1E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2407" y="694370"/>
            <a:ext cx="1387736" cy="1371600"/>
          </a:xfrm>
          <a:prstGeom prst="rect">
            <a:avLst/>
          </a:prstGeom>
        </p:spPr>
      </p:pic>
      <p:sp>
        <p:nvSpPr>
          <p:cNvPr id="7" name="Rectangle 3">
            <a:extLst>
              <a:ext uri="{FF2B5EF4-FFF2-40B4-BE49-F238E27FC236}">
                <a16:creationId xmlns:a16="http://schemas.microsoft.com/office/drawing/2014/main" id="{A2F97E60-F597-46ED-9EAB-60EC86B9B537}"/>
              </a:ext>
            </a:extLst>
          </p:cNvPr>
          <p:cNvSpPr>
            <a:spLocks noChangeArrowheads="1"/>
          </p:cNvSpPr>
          <p:nvPr/>
        </p:nvSpPr>
        <p:spPr bwMode="auto">
          <a:xfrm>
            <a:off x="324853" y="7750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a:extLst>
              <a:ext uri="{FF2B5EF4-FFF2-40B4-BE49-F238E27FC236}">
                <a16:creationId xmlns:a16="http://schemas.microsoft.com/office/drawing/2014/main" id="{635D71B2-AACA-489A-8F54-3A76BCF731FE}"/>
              </a:ext>
            </a:extLst>
          </p:cNvPr>
          <p:cNvPicPr>
            <a:picLocks noChangeAspect="1"/>
          </p:cNvPicPr>
          <p:nvPr/>
        </p:nvPicPr>
        <p:blipFill>
          <a:blip r:embed="rId3"/>
          <a:stretch>
            <a:fillRect/>
          </a:stretch>
        </p:blipFill>
        <p:spPr>
          <a:xfrm>
            <a:off x="9356561" y="775022"/>
            <a:ext cx="1397120" cy="1371600"/>
          </a:xfrm>
          <a:prstGeom prst="rect">
            <a:avLst/>
          </a:prstGeom>
        </p:spPr>
      </p:pic>
    </p:spTree>
    <p:extLst>
      <p:ext uri="{BB962C8B-B14F-4D97-AF65-F5344CB8AC3E}">
        <p14:creationId xmlns:p14="http://schemas.microsoft.com/office/powerpoint/2010/main" val="4044950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A7F22-78D2-4170-376E-1C048C866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6679-9BE9-AE8B-CFF3-971FBD8FCBE6}"/>
              </a:ext>
            </a:extLst>
          </p:cNvPr>
          <p:cNvSpPr>
            <a:spLocks noGrp="1"/>
          </p:cNvSpPr>
          <p:nvPr>
            <p:ph type="title"/>
          </p:nvPr>
        </p:nvSpPr>
        <p:spPr/>
        <p:txBody>
          <a:bodyPr/>
          <a:lstStyle/>
          <a:p>
            <a:r>
              <a:rPr lang="en-US" dirty="0"/>
              <a:t>Abstract</a:t>
            </a:r>
            <a:endParaRPr lang="en-150" dirty="0"/>
          </a:p>
        </p:txBody>
      </p:sp>
      <p:sp>
        <p:nvSpPr>
          <p:cNvPr id="4" name="Slide Number Placeholder 3">
            <a:extLst>
              <a:ext uri="{FF2B5EF4-FFF2-40B4-BE49-F238E27FC236}">
                <a16:creationId xmlns:a16="http://schemas.microsoft.com/office/drawing/2014/main" id="{326FC293-B4E1-D265-DD9A-61568BF22654}"/>
              </a:ext>
            </a:extLst>
          </p:cNvPr>
          <p:cNvSpPr>
            <a:spLocks noGrp="1"/>
          </p:cNvSpPr>
          <p:nvPr>
            <p:ph type="sldNum" sz="quarter" idx="12"/>
          </p:nvPr>
        </p:nvSpPr>
        <p:spPr/>
        <p:txBody>
          <a:bodyPr/>
          <a:lstStyle/>
          <a:p>
            <a:fld id="{D2CBC6F9-63DC-418A-A30A-9A9F771FE38A}" type="slidenum">
              <a:rPr lang="en-US" smtClean="0"/>
              <a:t>2</a:t>
            </a:fld>
            <a:endParaRPr lang="en-US"/>
          </a:p>
        </p:txBody>
      </p:sp>
      <p:sp>
        <p:nvSpPr>
          <p:cNvPr id="5" name="Content Placeholder 4">
            <a:extLst>
              <a:ext uri="{FF2B5EF4-FFF2-40B4-BE49-F238E27FC236}">
                <a16:creationId xmlns:a16="http://schemas.microsoft.com/office/drawing/2014/main" id="{1BB416C6-BE9C-53F6-4080-E7484648080C}"/>
              </a:ext>
            </a:extLst>
          </p:cNvPr>
          <p:cNvSpPr>
            <a:spLocks noGrp="1"/>
          </p:cNvSpPr>
          <p:nvPr>
            <p:ph idx="1"/>
          </p:nvPr>
        </p:nvSpPr>
        <p:spPr/>
        <p:txBody>
          <a:bodyPr/>
          <a:lstStyle/>
          <a:p>
            <a:r>
              <a:rPr lang="en-US" dirty="0"/>
              <a:t>This project aims to develop a self-ordering system for a modern restaurant that also provides calorie tracking for customers. Unlike traditional ordering methods, the system allows users to browse the menu, select their desired items, and customize their orders independently through an easy-to-use interface. In addition to calculating the total price, the system also displays the total calorie intake of the selected items, helping customers stay aware of their daily consumption.</a:t>
            </a:r>
          </a:p>
          <a:p>
            <a:r>
              <a:rPr lang="en-US" dirty="0"/>
              <a:t>The system will be implemented using C# and will follow Object-Oriented Programming (OOP) principles such as encapsulation, inheritance, and polymorphism. Each menu item will be represented as an object containing attributes like name, price, and calorie count, allowing for flexible and scalable system design.</a:t>
            </a:r>
          </a:p>
          <a:p>
            <a:r>
              <a:rPr lang="en-US" dirty="0"/>
              <a:t>The expected outcome is a smart, user-friendly application that enhances the customer experience through self-ordering while promoting healthier eating habits by providing clear calorie information. It also demonstrates the practical application of OOP concepts in building real-world restaurant management solutions.</a:t>
            </a:r>
          </a:p>
          <a:p>
            <a:pPr marL="0" indent="0">
              <a:buNone/>
            </a:pPr>
            <a:endParaRPr lang="ar-EG" dirty="0"/>
          </a:p>
        </p:txBody>
      </p:sp>
    </p:spTree>
    <p:extLst>
      <p:ext uri="{BB962C8B-B14F-4D97-AF65-F5344CB8AC3E}">
        <p14:creationId xmlns:p14="http://schemas.microsoft.com/office/powerpoint/2010/main" val="491380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32A0A-3515-1D7F-B054-663E26864B46}"/>
              </a:ext>
            </a:extLst>
          </p:cNvPr>
          <p:cNvSpPr>
            <a:spLocks noGrp="1"/>
          </p:cNvSpPr>
          <p:nvPr>
            <p:ph type="title"/>
          </p:nvPr>
        </p:nvSpPr>
        <p:spPr/>
        <p:txBody>
          <a:bodyPr/>
          <a:lstStyle/>
          <a:p>
            <a:r>
              <a:rPr lang="en-US" dirty="0"/>
              <a:t>Team members</a:t>
            </a:r>
            <a:endParaRPr lang="en-150" dirty="0"/>
          </a:p>
        </p:txBody>
      </p:sp>
      <p:graphicFrame>
        <p:nvGraphicFramePr>
          <p:cNvPr id="6" name="Content Placeholder 5">
            <a:extLst>
              <a:ext uri="{FF2B5EF4-FFF2-40B4-BE49-F238E27FC236}">
                <a16:creationId xmlns:a16="http://schemas.microsoft.com/office/drawing/2014/main" id="{D43B9053-3BF1-9416-1D8E-54C9B825B96A}"/>
              </a:ext>
            </a:extLst>
          </p:cNvPr>
          <p:cNvGraphicFramePr>
            <a:graphicFrameLocks noGrp="1"/>
          </p:cNvGraphicFramePr>
          <p:nvPr>
            <p:ph idx="1"/>
            <p:extLst>
              <p:ext uri="{D42A27DB-BD31-4B8C-83A1-F6EECF244321}">
                <p14:modId xmlns:p14="http://schemas.microsoft.com/office/powerpoint/2010/main" val="1254084180"/>
              </p:ext>
            </p:extLst>
          </p:nvPr>
        </p:nvGraphicFramePr>
        <p:xfrm>
          <a:off x="581025" y="2181225"/>
          <a:ext cx="11029950" cy="3144520"/>
        </p:xfrm>
        <a:graphic>
          <a:graphicData uri="http://schemas.openxmlformats.org/drawingml/2006/table">
            <a:tbl>
              <a:tblPr rtl="1" firstRow="1" bandRow="1">
                <a:tableStyleId>{5C22544A-7EE6-4342-B048-85BDC9FD1C3A}</a:tableStyleId>
              </a:tblPr>
              <a:tblGrid>
                <a:gridCol w="5514975">
                  <a:extLst>
                    <a:ext uri="{9D8B030D-6E8A-4147-A177-3AD203B41FA5}">
                      <a16:colId xmlns:a16="http://schemas.microsoft.com/office/drawing/2014/main" val="2637733010"/>
                    </a:ext>
                  </a:extLst>
                </a:gridCol>
                <a:gridCol w="5514975">
                  <a:extLst>
                    <a:ext uri="{9D8B030D-6E8A-4147-A177-3AD203B41FA5}">
                      <a16:colId xmlns:a16="http://schemas.microsoft.com/office/drawing/2014/main" val="3123605217"/>
                    </a:ext>
                  </a:extLst>
                </a:gridCol>
              </a:tblGrid>
              <a:tr h="370840">
                <a:tc>
                  <a:txBody>
                    <a:bodyPr/>
                    <a:lstStyle/>
                    <a:p>
                      <a:pPr algn="ctr" rtl="1"/>
                      <a:r>
                        <a:rPr lang="en-US" i="0" dirty="0"/>
                        <a:t>ID</a:t>
                      </a:r>
                      <a:endParaRPr lang="ar-EG" i="0" dirty="0"/>
                    </a:p>
                  </a:txBody>
                  <a:tcPr/>
                </a:tc>
                <a:tc>
                  <a:txBody>
                    <a:bodyPr/>
                    <a:lstStyle/>
                    <a:p>
                      <a:pPr algn="ctr" rtl="1"/>
                      <a:r>
                        <a:rPr lang="en-US" dirty="0"/>
                        <a:t>Name</a:t>
                      </a:r>
                      <a:endParaRPr lang="ar-EG" dirty="0"/>
                    </a:p>
                  </a:txBody>
                  <a:tcPr/>
                </a:tc>
                <a:extLst>
                  <a:ext uri="{0D108BD9-81ED-4DB2-BD59-A6C34878D82A}">
                    <a16:rowId xmlns:a16="http://schemas.microsoft.com/office/drawing/2014/main" val="4130733210"/>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1000324251</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Mahmoud Mohamed Roshdy</a:t>
                      </a:r>
                    </a:p>
                  </a:txBody>
                  <a:tcPr/>
                </a:tc>
                <a:extLst>
                  <a:ext uri="{0D108BD9-81ED-4DB2-BD59-A6C34878D82A}">
                    <a16:rowId xmlns:a16="http://schemas.microsoft.com/office/drawing/2014/main" val="3095790016"/>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1000324138</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Mahmoud Mohamed Allam</a:t>
                      </a:r>
                    </a:p>
                  </a:txBody>
                  <a:tcPr/>
                </a:tc>
                <a:extLst>
                  <a:ext uri="{0D108BD9-81ED-4DB2-BD59-A6C34878D82A}">
                    <a16:rowId xmlns:a16="http://schemas.microsoft.com/office/drawing/2014/main" val="1381774389"/>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1000324687</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Kamal Abdelmegid Ashour</a:t>
                      </a:r>
                    </a:p>
                  </a:txBody>
                  <a:tcPr/>
                </a:tc>
                <a:extLst>
                  <a:ext uri="{0D108BD9-81ED-4DB2-BD59-A6C34878D82A}">
                    <a16:rowId xmlns:a16="http://schemas.microsoft.com/office/drawing/2014/main" val="3088685199"/>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mn-lt"/>
                          <a:ea typeface="+mn-ea"/>
                          <a:cs typeface="+mn-cs"/>
                        </a:rPr>
                        <a:t>1000324284</a:t>
                      </a:r>
                      <a:endPar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endParaRP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Youssef Mohamed Youssef</a:t>
                      </a:r>
                    </a:p>
                  </a:txBody>
                  <a:tcPr/>
                </a:tc>
                <a:extLst>
                  <a:ext uri="{0D108BD9-81ED-4DB2-BD59-A6C34878D82A}">
                    <a16:rowId xmlns:a16="http://schemas.microsoft.com/office/drawing/2014/main" val="2107399993"/>
                  </a:ext>
                </a:extLst>
              </a:tr>
              <a:tr h="370840">
                <a:tc>
                  <a:txBody>
                    <a:bodyPr/>
                    <a:lstStyle/>
                    <a:p>
                      <a:pPr algn="ctr" rtl="1"/>
                      <a:r>
                        <a:rPr kumimoji="0" lang="en-US" sz="2600" b="1" i="0" u="none" strike="noStrike" kern="1200" cap="none" spc="0" normalizeH="0" baseline="0" dirty="0">
                          <a:ln>
                            <a:noFill/>
                          </a:ln>
                          <a:solidFill>
                            <a:srgbClr val="3D3D3D"/>
                          </a:solidFill>
                          <a:effectLst/>
                          <a:uLnTx/>
                          <a:uFillTx/>
                          <a:latin typeface="Majalla UI (Body)"/>
                          <a:ea typeface="+mn-ea"/>
                          <a:cs typeface="+mn-cs"/>
                        </a:rPr>
                        <a:t>1000324598</a:t>
                      </a:r>
                      <a:endParaRPr kumimoji="0" lang="ar-EG" sz="2600" b="1" i="0" u="none" strike="noStrike" kern="1200" cap="none" spc="0" normalizeH="0" baseline="0" dirty="0">
                        <a:ln>
                          <a:noFill/>
                        </a:ln>
                        <a:solidFill>
                          <a:srgbClr val="3D3D3D"/>
                        </a:solidFill>
                        <a:effectLst/>
                        <a:uLnTx/>
                        <a:uFillTx/>
                        <a:latin typeface="Majalla UI (Body)"/>
                        <a:ea typeface="+mn-ea"/>
                        <a:cs typeface="+mn-cs"/>
                      </a:endParaRP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Mamdouh Mohamed Youssef Ali</a:t>
                      </a:r>
                    </a:p>
                  </a:txBody>
                  <a:tcPr/>
                </a:tc>
                <a:extLst>
                  <a:ext uri="{0D108BD9-81ED-4DB2-BD59-A6C34878D82A}">
                    <a16:rowId xmlns:a16="http://schemas.microsoft.com/office/drawing/2014/main" val="931906631"/>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1000323999</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Walid Ebrahim Abdo Elkhayat</a:t>
                      </a:r>
                    </a:p>
                  </a:txBody>
                  <a:tcPr/>
                </a:tc>
                <a:extLst>
                  <a:ext uri="{0D108BD9-81ED-4DB2-BD59-A6C34878D82A}">
                    <a16:rowId xmlns:a16="http://schemas.microsoft.com/office/drawing/2014/main" val="2604482846"/>
                  </a:ext>
                </a:extLst>
              </a:tr>
            </a:tbl>
          </a:graphicData>
        </a:graphic>
      </p:graphicFrame>
      <p:sp>
        <p:nvSpPr>
          <p:cNvPr id="4" name="Slide Number Placeholder 3">
            <a:extLst>
              <a:ext uri="{FF2B5EF4-FFF2-40B4-BE49-F238E27FC236}">
                <a16:creationId xmlns:a16="http://schemas.microsoft.com/office/drawing/2014/main" id="{6F23F503-BE1C-A614-5318-BCE933929C3E}"/>
              </a:ext>
            </a:extLst>
          </p:cNvPr>
          <p:cNvSpPr>
            <a:spLocks noGrp="1"/>
          </p:cNvSpPr>
          <p:nvPr>
            <p:ph type="sldNum" sz="quarter" idx="12"/>
          </p:nvPr>
        </p:nvSpPr>
        <p:spPr/>
        <p:txBody>
          <a:bodyPr/>
          <a:lstStyle/>
          <a:p>
            <a:fld id="{D2CBC6F9-63DC-418A-A30A-9A9F771FE38A}" type="slidenum">
              <a:rPr lang="en-US" smtClean="0"/>
              <a:t>3</a:t>
            </a:fld>
            <a:endParaRPr lang="en-US"/>
          </a:p>
        </p:txBody>
      </p:sp>
    </p:spTree>
    <p:extLst>
      <p:ext uri="{BB962C8B-B14F-4D97-AF65-F5344CB8AC3E}">
        <p14:creationId xmlns:p14="http://schemas.microsoft.com/office/powerpoint/2010/main" val="3221973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4EF7F-C21F-A8CF-289A-CE3B1543B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68DCA-492E-B427-31E0-7D3061FE9EAF}"/>
              </a:ext>
            </a:extLst>
          </p:cNvPr>
          <p:cNvSpPr>
            <a:spLocks noGrp="1"/>
          </p:cNvSpPr>
          <p:nvPr>
            <p:ph type="title"/>
          </p:nvPr>
        </p:nvSpPr>
        <p:spPr/>
        <p:txBody>
          <a:bodyPr/>
          <a:lstStyle/>
          <a:p>
            <a:r>
              <a:rPr lang="en-US" dirty="0"/>
              <a:t>1. Introduction</a:t>
            </a:r>
            <a:endParaRPr lang="en-150" dirty="0"/>
          </a:p>
        </p:txBody>
      </p:sp>
      <p:sp>
        <p:nvSpPr>
          <p:cNvPr id="3" name="Content Placeholder 2">
            <a:extLst>
              <a:ext uri="{FF2B5EF4-FFF2-40B4-BE49-F238E27FC236}">
                <a16:creationId xmlns:a16="http://schemas.microsoft.com/office/drawing/2014/main" id="{224FD712-B20E-EC25-5E35-9123D7216312}"/>
              </a:ext>
            </a:extLst>
          </p:cNvPr>
          <p:cNvSpPr>
            <a:spLocks noGrp="1"/>
          </p:cNvSpPr>
          <p:nvPr>
            <p:ph idx="1"/>
          </p:nvPr>
        </p:nvSpPr>
        <p:spPr/>
        <p:txBody>
          <a:bodyPr/>
          <a:lstStyle/>
          <a:p>
            <a:r>
              <a:rPr lang="en-US" dirty="0"/>
              <a:t>With the rapid advancement of technology, the food service industry is increasingly adopting digital solutions to enhance customer experience and improve efficiency. One of the most popular trends is the use of self-ordering systems, which allow customers to browse menus and place orders without direct interaction with staff.</a:t>
            </a:r>
          </a:p>
          <a:p>
            <a:r>
              <a:rPr lang="en-US" dirty="0"/>
              <a:t>This project focuses on developing a smart self-ordering system for a restaurant that not only simplifies the ordering process but also provides valuable nutritional information. The system enables customers to select meals, customize their orders, and instantly view both the total price and the total calorie intake of their choices.</a:t>
            </a:r>
          </a:p>
          <a:p>
            <a:r>
              <a:rPr lang="en-US" dirty="0"/>
              <a:t>By integrating calorie tracking into the ordering process, the system helps customers make more informed and healthier decisions based on their dietary needs. The application is built using C# and follows Object-Oriented Programming (OOP) principles to ensure a structured, scalable, and maintainable design.</a:t>
            </a:r>
          </a:p>
          <a:p>
            <a:r>
              <a:rPr lang="en-US" dirty="0"/>
              <a:t>Overall, this project aims to combine convenience and health awareness in a single user-friendly solution, demonstrating how modern software techniques can solve real-world problems in the restaurant industry.</a:t>
            </a:r>
          </a:p>
          <a:p>
            <a:endParaRPr lang="en-150" dirty="0"/>
          </a:p>
        </p:txBody>
      </p:sp>
      <p:sp>
        <p:nvSpPr>
          <p:cNvPr id="4" name="Slide Number Placeholder 3">
            <a:extLst>
              <a:ext uri="{FF2B5EF4-FFF2-40B4-BE49-F238E27FC236}">
                <a16:creationId xmlns:a16="http://schemas.microsoft.com/office/drawing/2014/main" id="{EBA98E11-51A6-062D-D765-30766DD3DF35}"/>
              </a:ext>
            </a:extLst>
          </p:cNvPr>
          <p:cNvSpPr>
            <a:spLocks noGrp="1"/>
          </p:cNvSpPr>
          <p:nvPr>
            <p:ph type="sldNum" sz="quarter" idx="12"/>
          </p:nvPr>
        </p:nvSpPr>
        <p:spPr/>
        <p:txBody>
          <a:bodyPr/>
          <a:lstStyle/>
          <a:p>
            <a:fld id="{D2CBC6F9-63DC-418A-A30A-9A9F771FE38A}" type="slidenum">
              <a:rPr lang="en-US" smtClean="0"/>
              <a:t>4</a:t>
            </a:fld>
            <a:endParaRPr lang="en-US"/>
          </a:p>
        </p:txBody>
      </p:sp>
    </p:spTree>
    <p:extLst>
      <p:ext uri="{BB962C8B-B14F-4D97-AF65-F5344CB8AC3E}">
        <p14:creationId xmlns:p14="http://schemas.microsoft.com/office/powerpoint/2010/main" val="2807548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2E66A-7E5D-F7FF-40D9-9EED4C4F2AF5}"/>
              </a:ext>
            </a:extLst>
          </p:cNvPr>
          <p:cNvSpPr>
            <a:spLocks noGrp="1"/>
          </p:cNvSpPr>
          <p:nvPr>
            <p:ph type="title"/>
          </p:nvPr>
        </p:nvSpPr>
        <p:spPr/>
        <p:txBody>
          <a:bodyPr/>
          <a:lstStyle/>
          <a:p>
            <a:r>
              <a:rPr lang="en-US" dirty="0"/>
              <a:t>2. Problem Statement</a:t>
            </a:r>
            <a:endParaRPr lang="en-150" dirty="0"/>
          </a:p>
        </p:txBody>
      </p:sp>
      <p:sp>
        <p:nvSpPr>
          <p:cNvPr id="3" name="Content Placeholder 2">
            <a:extLst>
              <a:ext uri="{FF2B5EF4-FFF2-40B4-BE49-F238E27FC236}">
                <a16:creationId xmlns:a16="http://schemas.microsoft.com/office/drawing/2014/main" id="{041A6D5A-D751-FEDD-E946-84515E3C98C6}"/>
              </a:ext>
            </a:extLst>
          </p:cNvPr>
          <p:cNvSpPr>
            <a:spLocks noGrp="1"/>
          </p:cNvSpPr>
          <p:nvPr>
            <p:ph idx="1"/>
          </p:nvPr>
        </p:nvSpPr>
        <p:spPr/>
        <p:txBody>
          <a:bodyPr/>
          <a:lstStyle/>
          <a:p>
            <a:r>
              <a:rPr lang="en-US" dirty="0"/>
              <a:t>In many restaurants, especially traditional and mid-scale ones, the ordering process still relies on manual interaction with staff, which can lead to delays, order inaccuracies, and limited customization options. Additionally, customers often lack access to clear nutritional information about the meals they order, making it difficult to monitor their daily calorie intake or make healthier food choices.</a:t>
            </a:r>
          </a:p>
          <a:p>
            <a:r>
              <a:rPr lang="en-US" dirty="0"/>
              <a:t>With the growing awareness of health and nutrition, customers are increasingly interested in understanding what they consume. However, most restaurant systems focus only on pricing and order management, ignoring the importance of calorie tracking and dietary awareness.</a:t>
            </a:r>
          </a:p>
          <a:p>
            <a:r>
              <a:rPr lang="en-US" dirty="0"/>
              <a:t>Therefore, there is a need for an integrated system that allows customers to independently place orders while also providing real-time information about both the cost and the calorie content of their meals. Such a system should be simple, efficient, and user-friendly, while also demonstrating effective use of Object-Oriented Programming (OOP) principles in its design and implementation.</a:t>
            </a:r>
          </a:p>
        </p:txBody>
      </p:sp>
      <p:sp>
        <p:nvSpPr>
          <p:cNvPr id="4" name="Slide Number Placeholder 3">
            <a:extLst>
              <a:ext uri="{FF2B5EF4-FFF2-40B4-BE49-F238E27FC236}">
                <a16:creationId xmlns:a16="http://schemas.microsoft.com/office/drawing/2014/main" id="{1BEC9BE5-17EF-1AA0-8AAD-2FAEDF45CEB9}"/>
              </a:ext>
            </a:extLst>
          </p:cNvPr>
          <p:cNvSpPr>
            <a:spLocks noGrp="1"/>
          </p:cNvSpPr>
          <p:nvPr>
            <p:ph type="sldNum" sz="quarter" idx="12"/>
          </p:nvPr>
        </p:nvSpPr>
        <p:spPr/>
        <p:txBody>
          <a:bodyPr/>
          <a:lstStyle/>
          <a:p>
            <a:fld id="{D2CBC6F9-63DC-418A-A30A-9A9F771FE38A}" type="slidenum">
              <a:rPr lang="en-US" smtClean="0"/>
              <a:t>5</a:t>
            </a:fld>
            <a:endParaRPr lang="en-US"/>
          </a:p>
        </p:txBody>
      </p:sp>
    </p:spTree>
    <p:extLst>
      <p:ext uri="{BB962C8B-B14F-4D97-AF65-F5344CB8AC3E}">
        <p14:creationId xmlns:p14="http://schemas.microsoft.com/office/powerpoint/2010/main" val="60626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59209-E3D1-7AA2-340A-3963CAD4C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DF017-3000-468D-F153-E96D84A23DFC}"/>
              </a:ext>
            </a:extLst>
          </p:cNvPr>
          <p:cNvSpPr>
            <a:spLocks noGrp="1"/>
          </p:cNvSpPr>
          <p:nvPr>
            <p:ph type="title"/>
          </p:nvPr>
        </p:nvSpPr>
        <p:spPr/>
        <p:txBody>
          <a:bodyPr/>
          <a:lstStyle/>
          <a:p>
            <a:r>
              <a:rPr lang="en-US" dirty="0"/>
              <a:t>3. Objectives</a:t>
            </a:r>
            <a:endParaRPr lang="en-150" dirty="0"/>
          </a:p>
        </p:txBody>
      </p:sp>
      <p:sp>
        <p:nvSpPr>
          <p:cNvPr id="3" name="Content Placeholder 2">
            <a:extLst>
              <a:ext uri="{FF2B5EF4-FFF2-40B4-BE49-F238E27FC236}">
                <a16:creationId xmlns:a16="http://schemas.microsoft.com/office/drawing/2014/main" id="{8D61A73A-86A9-B8A3-658D-5A05C0202303}"/>
              </a:ext>
            </a:extLst>
          </p:cNvPr>
          <p:cNvSpPr>
            <a:spLocks noGrp="1"/>
          </p:cNvSpPr>
          <p:nvPr>
            <p:ph idx="1"/>
          </p:nvPr>
        </p:nvSpPr>
        <p:spPr/>
        <p:txBody>
          <a:bodyPr>
            <a:normAutofit fontScale="92500" lnSpcReduction="20000"/>
          </a:bodyPr>
          <a:lstStyle/>
          <a:p>
            <a:pPr marL="0" indent="0">
              <a:buNone/>
            </a:pPr>
            <a:r>
              <a:rPr lang="en-US" dirty="0"/>
              <a:t>The main objective of this project is to design and develop an integrated restaurant ordering system that improves the ordering process while promoting healthier food choices through calorie awareness.</a:t>
            </a:r>
          </a:p>
          <a:p>
            <a:pPr marL="0" indent="0">
              <a:buNone/>
            </a:pPr>
            <a:r>
              <a:rPr lang="en-US" dirty="0"/>
              <a:t>More specifically, the system aims to:</a:t>
            </a:r>
          </a:p>
          <a:p>
            <a:r>
              <a:rPr lang="en-US" dirty="0"/>
              <a:t>Develop a user-friendly application that allows customers to easily browse the menu and place orders without staff intervention. </a:t>
            </a:r>
          </a:p>
          <a:p>
            <a:r>
              <a:rPr lang="en-US" dirty="0"/>
              <a:t>Automate the calculation of total order price based on selected items and quantities. </a:t>
            </a:r>
          </a:p>
          <a:p>
            <a:r>
              <a:rPr lang="en-US" dirty="0"/>
              <a:t>Provide real-time calculation and display of calorie content for each meal and for the total order. </a:t>
            </a:r>
          </a:p>
          <a:p>
            <a:r>
              <a:rPr lang="en-US" dirty="0"/>
              <a:t>Reduce human errors and delays associated with traditional manual ordering systems. </a:t>
            </a:r>
          </a:p>
          <a:p>
            <a:r>
              <a:rPr lang="en-US" dirty="0"/>
              <a:t>Support customers in making informed dietary decisions by displaying nutritional information clearly. </a:t>
            </a:r>
          </a:p>
          <a:p>
            <a:r>
              <a:rPr lang="en-US" dirty="0"/>
              <a:t>Apply Object-Oriented Programming (OOP) principles effectively in system design, including encapsulation, inheritance, and polymorphism where appropriate. </a:t>
            </a:r>
          </a:p>
          <a:p>
            <a:r>
              <a:rPr lang="en-US" dirty="0"/>
              <a:t>Improve overall efficiency and organization of the restaurant ordering process.</a:t>
            </a:r>
          </a:p>
        </p:txBody>
      </p:sp>
      <p:sp>
        <p:nvSpPr>
          <p:cNvPr id="4" name="Slide Number Placeholder 3">
            <a:extLst>
              <a:ext uri="{FF2B5EF4-FFF2-40B4-BE49-F238E27FC236}">
                <a16:creationId xmlns:a16="http://schemas.microsoft.com/office/drawing/2014/main" id="{084AB65A-1E3E-65C7-6C29-34856FAA51A0}"/>
              </a:ext>
            </a:extLst>
          </p:cNvPr>
          <p:cNvSpPr>
            <a:spLocks noGrp="1"/>
          </p:cNvSpPr>
          <p:nvPr>
            <p:ph type="sldNum" sz="quarter" idx="12"/>
          </p:nvPr>
        </p:nvSpPr>
        <p:spPr/>
        <p:txBody>
          <a:bodyPr/>
          <a:lstStyle/>
          <a:p>
            <a:fld id="{D2CBC6F9-63DC-418A-A30A-9A9F771FE38A}" type="slidenum">
              <a:rPr lang="en-US" smtClean="0"/>
              <a:t>6</a:t>
            </a:fld>
            <a:endParaRPr lang="en-US"/>
          </a:p>
        </p:txBody>
      </p:sp>
    </p:spTree>
    <p:extLst>
      <p:ext uri="{BB962C8B-B14F-4D97-AF65-F5344CB8AC3E}">
        <p14:creationId xmlns:p14="http://schemas.microsoft.com/office/powerpoint/2010/main" val="96537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30B7E-EB55-2B5B-54EC-043202B68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0E0DC-39A3-55E5-A7DE-3276BBE81C31}"/>
              </a:ext>
            </a:extLst>
          </p:cNvPr>
          <p:cNvSpPr>
            <a:spLocks noGrp="1"/>
          </p:cNvSpPr>
          <p:nvPr>
            <p:ph type="title"/>
          </p:nvPr>
        </p:nvSpPr>
        <p:spPr/>
        <p:txBody>
          <a:bodyPr/>
          <a:lstStyle/>
          <a:p>
            <a:r>
              <a:rPr lang="en-US" dirty="0"/>
              <a:t>4. Features</a:t>
            </a:r>
            <a:endParaRPr lang="en-150" dirty="0"/>
          </a:p>
        </p:txBody>
      </p:sp>
      <p:sp>
        <p:nvSpPr>
          <p:cNvPr id="4" name="Slide Number Placeholder 3">
            <a:extLst>
              <a:ext uri="{FF2B5EF4-FFF2-40B4-BE49-F238E27FC236}">
                <a16:creationId xmlns:a16="http://schemas.microsoft.com/office/drawing/2014/main" id="{F2224703-E563-AFF1-7AB6-B242F9F76A17}"/>
              </a:ext>
            </a:extLst>
          </p:cNvPr>
          <p:cNvSpPr>
            <a:spLocks noGrp="1"/>
          </p:cNvSpPr>
          <p:nvPr>
            <p:ph type="sldNum" sz="quarter" idx="12"/>
          </p:nvPr>
        </p:nvSpPr>
        <p:spPr/>
        <p:txBody>
          <a:bodyPr/>
          <a:lstStyle/>
          <a:p>
            <a:fld id="{D2CBC6F9-63DC-418A-A30A-9A9F771FE38A}" type="slidenum">
              <a:rPr lang="en-US" smtClean="0"/>
              <a:t>7</a:t>
            </a:fld>
            <a:endParaRPr lang="en-US"/>
          </a:p>
        </p:txBody>
      </p:sp>
      <p:sp>
        <p:nvSpPr>
          <p:cNvPr id="6" name="Rectangle 2">
            <a:extLst>
              <a:ext uri="{FF2B5EF4-FFF2-40B4-BE49-F238E27FC236}">
                <a16:creationId xmlns:a16="http://schemas.microsoft.com/office/drawing/2014/main" id="{F4AE8C41-1847-A861-E7F6-BADC4E5F9E5B}"/>
              </a:ext>
            </a:extLst>
          </p:cNvPr>
          <p:cNvSpPr>
            <a:spLocks noGrp="1" noChangeArrowheads="1"/>
          </p:cNvSpPr>
          <p:nvPr>
            <p:ph idx="1"/>
          </p:nvPr>
        </p:nvSpPr>
        <p:spPr bwMode="auto">
          <a:xfrm>
            <a:off x="894878" y="2045323"/>
            <a:ext cx="10402244" cy="3983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SzTx/>
              <a:buNone/>
              <a:tabLst/>
            </a:pPr>
            <a:r>
              <a:rPr lang="ar-EG" altLang="ar-EG" sz="1700" b="1" dirty="0"/>
              <a:t>Digital Menu Display: </a:t>
            </a:r>
            <a:r>
              <a:rPr lang="ar-EG" altLang="ar-EG" sz="1700" dirty="0"/>
              <a:t>Shows all available food items with descriptions, prices, and calorie information. </a:t>
            </a:r>
          </a:p>
          <a:p>
            <a:pPr marL="0" indent="0" defTabSz="914400" eaLnBrk="0" fontAlgn="base" hangingPunct="0">
              <a:lnSpc>
                <a:spcPct val="150000"/>
              </a:lnSpc>
              <a:spcBef>
                <a:spcPct val="0"/>
              </a:spcBef>
              <a:spcAft>
                <a:spcPct val="0"/>
              </a:spcAft>
              <a:buSzTx/>
              <a:buNone/>
            </a:pPr>
            <a:r>
              <a:rPr lang="ar-EG" altLang="ar-EG" sz="1700" b="1" dirty="0"/>
              <a:t>Order Placement System: </a:t>
            </a:r>
            <a:r>
              <a:rPr lang="ar-EG" altLang="ar-EG" sz="1700" dirty="0"/>
              <a:t>Allows customers to select food items and specify quantities easily. </a:t>
            </a:r>
          </a:p>
          <a:p>
            <a:pPr marL="0" marR="0" lvl="0" indent="0" algn="l" defTabSz="914400" rtl="0" eaLnBrk="0" fontAlgn="base" latinLnBrk="0" hangingPunct="0">
              <a:lnSpc>
                <a:spcPct val="150000"/>
              </a:lnSpc>
              <a:spcBef>
                <a:spcPct val="0"/>
              </a:spcBef>
              <a:spcAft>
                <a:spcPct val="0"/>
              </a:spcAft>
              <a:buClrTx/>
              <a:buSzTx/>
              <a:buNone/>
              <a:tabLst/>
            </a:pPr>
            <a:r>
              <a:rPr lang="ar-EG" altLang="ar-EG" sz="1700" b="1" dirty="0"/>
              <a:t>Real-Time Price Calculation</a:t>
            </a:r>
            <a:r>
              <a:rPr lang="ar-EG" altLang="ar-EG" sz="1700" dirty="0"/>
              <a:t>: Automatically calculates the total cost of the order based on selected items. </a:t>
            </a:r>
          </a:p>
          <a:p>
            <a:pPr marL="0" marR="0" lvl="0" indent="0" algn="l" defTabSz="914400" rtl="0" eaLnBrk="0" fontAlgn="base" latinLnBrk="0" hangingPunct="0">
              <a:lnSpc>
                <a:spcPct val="150000"/>
              </a:lnSpc>
              <a:spcBef>
                <a:spcPct val="0"/>
              </a:spcBef>
              <a:spcAft>
                <a:spcPct val="0"/>
              </a:spcAft>
              <a:buClrTx/>
              <a:buSzTx/>
              <a:buNone/>
              <a:tabLst/>
            </a:pPr>
            <a:r>
              <a:rPr lang="ar-EG" altLang="ar-EG" sz="1700" b="1" dirty="0"/>
              <a:t>Calorie Tracking: </a:t>
            </a:r>
            <a:r>
              <a:rPr lang="ar-EG" altLang="ar-EG" sz="1700" dirty="0"/>
              <a:t>Displays calorie content for each item</a:t>
            </a:r>
          </a:p>
          <a:p>
            <a:pPr marL="0" marR="0" lvl="0" indent="0" algn="l" defTabSz="914400" rtl="0" eaLnBrk="0" fontAlgn="base" latinLnBrk="0" hangingPunct="0">
              <a:lnSpc>
                <a:spcPct val="150000"/>
              </a:lnSpc>
              <a:spcBef>
                <a:spcPct val="0"/>
              </a:spcBef>
              <a:spcAft>
                <a:spcPct val="0"/>
              </a:spcAft>
              <a:buClrTx/>
              <a:buSzTx/>
              <a:buNone/>
              <a:tabLst/>
            </a:pPr>
            <a:r>
              <a:rPr lang="ar-EG" altLang="ar-EG" sz="1700" b="1" dirty="0"/>
              <a:t>Customizable Orders: </a:t>
            </a:r>
            <a:r>
              <a:rPr lang="ar-EG" altLang="ar-EG" sz="1700" dirty="0"/>
              <a:t>Enables customers to modify quantities or remove items before finalizing the order. </a:t>
            </a:r>
          </a:p>
          <a:p>
            <a:pPr marL="0" marR="0" lvl="0" indent="0" algn="l" defTabSz="914400" rtl="0" eaLnBrk="0" fontAlgn="base" latinLnBrk="0" hangingPunct="0">
              <a:lnSpc>
                <a:spcPct val="150000"/>
              </a:lnSpc>
              <a:spcBef>
                <a:spcPct val="0"/>
              </a:spcBef>
              <a:spcAft>
                <a:spcPct val="0"/>
              </a:spcAft>
              <a:buClrTx/>
              <a:buSzTx/>
              <a:buNone/>
              <a:tabLst/>
            </a:pPr>
            <a:r>
              <a:rPr lang="ar-EG" altLang="ar-EG" sz="1700" b="1" dirty="0"/>
              <a:t>User-Friendly Interface: </a:t>
            </a:r>
            <a:r>
              <a:rPr lang="ar-EG" altLang="ar-EG" sz="1700" dirty="0"/>
              <a:t>Simple and intuitive design to ensure easy navigation for all users. </a:t>
            </a:r>
          </a:p>
          <a:p>
            <a:pPr marL="0" marR="0" lvl="0" indent="0" algn="l" defTabSz="914400" rtl="0" eaLnBrk="0" fontAlgn="base" latinLnBrk="0" hangingPunct="0">
              <a:lnSpc>
                <a:spcPct val="150000"/>
              </a:lnSpc>
              <a:spcBef>
                <a:spcPct val="0"/>
              </a:spcBef>
              <a:spcAft>
                <a:spcPct val="0"/>
              </a:spcAft>
              <a:buClrTx/>
              <a:buSzTx/>
              <a:buNone/>
              <a:tabLst/>
            </a:pPr>
            <a:r>
              <a:rPr lang="ar-EG" altLang="ar-EG" sz="1700" b="1" dirty="0"/>
              <a:t>Order Summary: </a:t>
            </a:r>
            <a:r>
              <a:rPr lang="ar-EG" altLang="ar-EG" sz="1700" dirty="0"/>
              <a:t>Provides a final review of the order including items, total price, and total calories before confirmation. </a:t>
            </a:r>
          </a:p>
          <a:p>
            <a:pPr marL="0" marR="0" lvl="0" indent="0" algn="l" defTabSz="914400" rtl="0" eaLnBrk="0" fontAlgn="base" latinLnBrk="0" hangingPunct="0">
              <a:lnSpc>
                <a:spcPct val="150000"/>
              </a:lnSpc>
              <a:spcBef>
                <a:spcPct val="0"/>
              </a:spcBef>
              <a:spcAft>
                <a:spcPct val="0"/>
              </a:spcAft>
              <a:buClrTx/>
              <a:buSzTx/>
              <a:buNone/>
              <a:tabLst/>
            </a:pPr>
            <a:r>
              <a:rPr lang="ar-EG" altLang="ar-EG" sz="1700" b="1" dirty="0"/>
              <a:t>OOP-Based Structure: </a:t>
            </a:r>
            <a:r>
              <a:rPr lang="ar-EG" altLang="ar-EG" sz="1700" dirty="0"/>
              <a:t>System is developed using Object-Oriented Programming principles to ensure modularity, scalability, and maintainability. </a:t>
            </a:r>
          </a:p>
        </p:txBody>
      </p:sp>
    </p:spTree>
    <p:extLst>
      <p:ext uri="{BB962C8B-B14F-4D97-AF65-F5344CB8AC3E}">
        <p14:creationId xmlns:p14="http://schemas.microsoft.com/office/powerpoint/2010/main" val="1907357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C0B4-CD2C-65EF-A3C8-9D86B414180D}"/>
              </a:ext>
            </a:extLst>
          </p:cNvPr>
          <p:cNvSpPr>
            <a:spLocks noGrp="1"/>
          </p:cNvSpPr>
          <p:nvPr>
            <p:ph type="title"/>
          </p:nvPr>
        </p:nvSpPr>
        <p:spPr/>
        <p:txBody>
          <a:bodyPr/>
          <a:lstStyle/>
          <a:p>
            <a:r>
              <a:rPr lang="en-US" dirty="0" err="1"/>
              <a:t>LogIN</a:t>
            </a:r>
            <a:endParaRPr lang="ar-EG" dirty="0"/>
          </a:p>
        </p:txBody>
      </p:sp>
      <p:pic>
        <p:nvPicPr>
          <p:cNvPr id="6" name="Content Placeholder 5">
            <a:extLst>
              <a:ext uri="{FF2B5EF4-FFF2-40B4-BE49-F238E27FC236}">
                <a16:creationId xmlns:a16="http://schemas.microsoft.com/office/drawing/2014/main" id="{4EE17A17-90FD-8104-4A50-E03AE8A8DE2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105"/>
          <a:stretch>
            <a:fillRect/>
          </a:stretch>
        </p:blipFill>
        <p:spPr>
          <a:xfrm>
            <a:off x="2007811" y="2172929"/>
            <a:ext cx="7920085" cy="4257366"/>
          </a:xfrm>
          <a:prstGeom prst="rect">
            <a:avLst/>
          </a:prstGeom>
        </p:spPr>
      </p:pic>
      <p:sp>
        <p:nvSpPr>
          <p:cNvPr id="4" name="Slide Number Placeholder 3">
            <a:extLst>
              <a:ext uri="{FF2B5EF4-FFF2-40B4-BE49-F238E27FC236}">
                <a16:creationId xmlns:a16="http://schemas.microsoft.com/office/drawing/2014/main" id="{72B98944-CC85-37FD-8BEF-A3AB20F6BE0E}"/>
              </a:ext>
            </a:extLst>
          </p:cNvPr>
          <p:cNvSpPr>
            <a:spLocks noGrp="1"/>
          </p:cNvSpPr>
          <p:nvPr>
            <p:ph type="sldNum" sz="quarter" idx="12"/>
          </p:nvPr>
        </p:nvSpPr>
        <p:spPr/>
        <p:txBody>
          <a:bodyPr/>
          <a:lstStyle/>
          <a:p>
            <a:fld id="{D2CBC6F9-63DC-418A-A30A-9A9F771FE38A}" type="slidenum">
              <a:rPr lang="en-US" smtClean="0"/>
              <a:t>8</a:t>
            </a:fld>
            <a:endParaRPr lang="en-US"/>
          </a:p>
        </p:txBody>
      </p:sp>
    </p:spTree>
    <p:extLst>
      <p:ext uri="{BB962C8B-B14F-4D97-AF65-F5344CB8AC3E}">
        <p14:creationId xmlns:p14="http://schemas.microsoft.com/office/powerpoint/2010/main" val="1429541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BD438-87D2-9532-B1A5-F7EBCE40F5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281DB-91F2-727D-C37F-DE1E158F7AAE}"/>
              </a:ext>
            </a:extLst>
          </p:cNvPr>
          <p:cNvSpPr>
            <a:spLocks noGrp="1"/>
          </p:cNvSpPr>
          <p:nvPr>
            <p:ph type="title"/>
          </p:nvPr>
        </p:nvSpPr>
        <p:spPr/>
        <p:txBody>
          <a:bodyPr/>
          <a:lstStyle/>
          <a:p>
            <a:endParaRPr lang="ar-EG"/>
          </a:p>
        </p:txBody>
      </p:sp>
      <p:sp>
        <p:nvSpPr>
          <p:cNvPr id="4" name="Slide Number Placeholder 3">
            <a:extLst>
              <a:ext uri="{FF2B5EF4-FFF2-40B4-BE49-F238E27FC236}">
                <a16:creationId xmlns:a16="http://schemas.microsoft.com/office/drawing/2014/main" id="{967CB225-88B5-BA8C-1FFF-0707510008EC}"/>
              </a:ext>
            </a:extLst>
          </p:cNvPr>
          <p:cNvSpPr>
            <a:spLocks noGrp="1"/>
          </p:cNvSpPr>
          <p:nvPr>
            <p:ph type="sldNum" sz="quarter" idx="12"/>
          </p:nvPr>
        </p:nvSpPr>
        <p:spPr/>
        <p:txBody>
          <a:bodyPr/>
          <a:lstStyle/>
          <a:p>
            <a:fld id="{D2CBC6F9-63DC-418A-A30A-9A9F771FE38A}" type="slidenum">
              <a:rPr lang="en-US" smtClean="0"/>
              <a:t>9</a:t>
            </a:fld>
            <a:endParaRPr lang="en-US"/>
          </a:p>
        </p:txBody>
      </p:sp>
      <p:pic>
        <p:nvPicPr>
          <p:cNvPr id="8" name="Content Placeholder 7">
            <a:extLst>
              <a:ext uri="{FF2B5EF4-FFF2-40B4-BE49-F238E27FC236}">
                <a16:creationId xmlns:a16="http://schemas.microsoft.com/office/drawing/2014/main" id="{526C75FD-FAC0-1A31-66AF-D7FA3209EE5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731"/>
          <a:stretch>
            <a:fillRect/>
          </a:stretch>
        </p:blipFill>
        <p:spPr>
          <a:xfrm>
            <a:off x="1980865" y="2251587"/>
            <a:ext cx="8230270" cy="4257367"/>
          </a:xfrm>
          <a:prstGeom prst="rect">
            <a:avLst/>
          </a:prstGeom>
        </p:spPr>
      </p:pic>
    </p:spTree>
    <p:extLst>
      <p:ext uri="{BB962C8B-B14F-4D97-AF65-F5344CB8AC3E}">
        <p14:creationId xmlns:p14="http://schemas.microsoft.com/office/powerpoint/2010/main" val="3117553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8665D-8E1C-773D-E08A-0889CFBBC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CA925-CD9A-5AF0-DFB3-081AA99AF43E}"/>
              </a:ext>
            </a:extLst>
          </p:cNvPr>
          <p:cNvSpPr>
            <a:spLocks noGrp="1"/>
          </p:cNvSpPr>
          <p:nvPr>
            <p:ph type="title"/>
          </p:nvPr>
        </p:nvSpPr>
        <p:spPr/>
        <p:txBody>
          <a:bodyPr/>
          <a:lstStyle/>
          <a:p>
            <a:endParaRPr lang="ar-EG"/>
          </a:p>
        </p:txBody>
      </p:sp>
      <p:sp>
        <p:nvSpPr>
          <p:cNvPr id="4" name="Slide Number Placeholder 3">
            <a:extLst>
              <a:ext uri="{FF2B5EF4-FFF2-40B4-BE49-F238E27FC236}">
                <a16:creationId xmlns:a16="http://schemas.microsoft.com/office/drawing/2014/main" id="{02E0950B-0950-11EF-63C4-E892FE855333}"/>
              </a:ext>
            </a:extLst>
          </p:cNvPr>
          <p:cNvSpPr>
            <a:spLocks noGrp="1"/>
          </p:cNvSpPr>
          <p:nvPr>
            <p:ph type="sldNum" sz="quarter" idx="12"/>
          </p:nvPr>
        </p:nvSpPr>
        <p:spPr/>
        <p:txBody>
          <a:bodyPr/>
          <a:lstStyle/>
          <a:p>
            <a:fld id="{D2CBC6F9-63DC-418A-A30A-9A9F771FE38A}" type="slidenum">
              <a:rPr lang="en-US" smtClean="0"/>
              <a:t>10</a:t>
            </a:fld>
            <a:endParaRPr lang="en-US"/>
          </a:p>
        </p:txBody>
      </p:sp>
      <p:pic>
        <p:nvPicPr>
          <p:cNvPr id="7" name="Content Placeholder 6">
            <a:extLst>
              <a:ext uri="{FF2B5EF4-FFF2-40B4-BE49-F238E27FC236}">
                <a16:creationId xmlns:a16="http://schemas.microsoft.com/office/drawing/2014/main" id="{7E392C64-48F8-0546-17E2-74635F64349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570"/>
          <a:stretch>
            <a:fillRect/>
          </a:stretch>
        </p:blipFill>
        <p:spPr>
          <a:xfrm>
            <a:off x="2082551" y="2231923"/>
            <a:ext cx="8026897" cy="4159044"/>
          </a:xfrm>
          <a:prstGeom prst="rect">
            <a:avLst/>
          </a:prstGeom>
        </p:spPr>
      </p:pic>
    </p:spTree>
    <p:extLst>
      <p:ext uri="{BB962C8B-B14F-4D97-AF65-F5344CB8AC3E}">
        <p14:creationId xmlns:p14="http://schemas.microsoft.com/office/powerpoint/2010/main" val="3531861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13E1B-8582-7D0C-6267-C2C2D3781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89AD99-6F1C-2373-AA22-6D65BED66E1B}"/>
              </a:ext>
            </a:extLst>
          </p:cNvPr>
          <p:cNvSpPr>
            <a:spLocks noGrp="1"/>
          </p:cNvSpPr>
          <p:nvPr>
            <p:ph type="title"/>
          </p:nvPr>
        </p:nvSpPr>
        <p:spPr/>
        <p:txBody>
          <a:bodyPr/>
          <a:lstStyle/>
          <a:p>
            <a:endParaRPr lang="ar-EG"/>
          </a:p>
        </p:txBody>
      </p:sp>
      <p:sp>
        <p:nvSpPr>
          <p:cNvPr id="4" name="Slide Number Placeholder 3">
            <a:extLst>
              <a:ext uri="{FF2B5EF4-FFF2-40B4-BE49-F238E27FC236}">
                <a16:creationId xmlns:a16="http://schemas.microsoft.com/office/drawing/2014/main" id="{57B7AD40-EEA3-F086-4D18-289E59E6F930}"/>
              </a:ext>
            </a:extLst>
          </p:cNvPr>
          <p:cNvSpPr>
            <a:spLocks noGrp="1"/>
          </p:cNvSpPr>
          <p:nvPr>
            <p:ph type="sldNum" sz="quarter" idx="12"/>
          </p:nvPr>
        </p:nvSpPr>
        <p:spPr/>
        <p:txBody>
          <a:bodyPr/>
          <a:lstStyle/>
          <a:p>
            <a:fld id="{D2CBC6F9-63DC-418A-A30A-9A9F771FE38A}" type="slidenum">
              <a:rPr lang="en-US" smtClean="0"/>
              <a:t>11</a:t>
            </a:fld>
            <a:endParaRPr lang="en-US"/>
          </a:p>
        </p:txBody>
      </p:sp>
      <p:pic>
        <p:nvPicPr>
          <p:cNvPr id="8" name="Content Placeholder 7">
            <a:extLst>
              <a:ext uri="{FF2B5EF4-FFF2-40B4-BE49-F238E27FC236}">
                <a16:creationId xmlns:a16="http://schemas.microsoft.com/office/drawing/2014/main" id="{46CCB8E2-6B29-DEF9-D272-25392C94167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982"/>
          <a:stretch>
            <a:fillRect/>
          </a:stretch>
        </p:blipFill>
        <p:spPr>
          <a:xfrm>
            <a:off x="2019711" y="2330244"/>
            <a:ext cx="8152577" cy="4208207"/>
          </a:xfrm>
          <a:prstGeom prst="rect">
            <a:avLst/>
          </a:prstGeom>
        </p:spPr>
      </p:pic>
    </p:spTree>
    <p:extLst>
      <p:ext uri="{BB962C8B-B14F-4D97-AF65-F5344CB8AC3E}">
        <p14:creationId xmlns:p14="http://schemas.microsoft.com/office/powerpoint/2010/main" val="745461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EED3B-F3D7-9044-85FD-F776A0D9B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2AE5A-641E-3119-3110-CD01C935BE30}"/>
              </a:ext>
            </a:extLst>
          </p:cNvPr>
          <p:cNvSpPr>
            <a:spLocks noGrp="1"/>
          </p:cNvSpPr>
          <p:nvPr>
            <p:ph type="title"/>
          </p:nvPr>
        </p:nvSpPr>
        <p:spPr/>
        <p:txBody>
          <a:bodyPr/>
          <a:lstStyle/>
          <a:p>
            <a:endParaRPr lang="ar-EG"/>
          </a:p>
        </p:txBody>
      </p:sp>
      <p:sp>
        <p:nvSpPr>
          <p:cNvPr id="4" name="Slide Number Placeholder 3">
            <a:extLst>
              <a:ext uri="{FF2B5EF4-FFF2-40B4-BE49-F238E27FC236}">
                <a16:creationId xmlns:a16="http://schemas.microsoft.com/office/drawing/2014/main" id="{D5952AE9-9B1E-A487-9AA7-3D0BBAFC950D}"/>
              </a:ext>
            </a:extLst>
          </p:cNvPr>
          <p:cNvSpPr>
            <a:spLocks noGrp="1"/>
          </p:cNvSpPr>
          <p:nvPr>
            <p:ph type="sldNum" sz="quarter" idx="12"/>
          </p:nvPr>
        </p:nvSpPr>
        <p:spPr/>
        <p:txBody>
          <a:bodyPr/>
          <a:lstStyle/>
          <a:p>
            <a:fld id="{D2CBC6F9-63DC-418A-A30A-9A9F771FE38A}" type="slidenum">
              <a:rPr lang="en-US" smtClean="0"/>
              <a:t>12</a:t>
            </a:fld>
            <a:endParaRPr lang="en-US"/>
          </a:p>
        </p:txBody>
      </p:sp>
      <p:pic>
        <p:nvPicPr>
          <p:cNvPr id="7" name="Content Placeholder 6">
            <a:extLst>
              <a:ext uri="{FF2B5EF4-FFF2-40B4-BE49-F238E27FC236}">
                <a16:creationId xmlns:a16="http://schemas.microsoft.com/office/drawing/2014/main" id="{80FCCEEF-81B4-76FC-7CD6-A42069D9D2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9885" y="1899388"/>
            <a:ext cx="4691225" cy="4865206"/>
          </a:xfrm>
          <a:prstGeom prst="rect">
            <a:avLst/>
          </a:prstGeom>
        </p:spPr>
      </p:pic>
    </p:spTree>
    <p:extLst>
      <p:ext uri="{BB962C8B-B14F-4D97-AF65-F5344CB8AC3E}">
        <p14:creationId xmlns:p14="http://schemas.microsoft.com/office/powerpoint/2010/main" val="196829015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0F9D61BC598A43AF8403C058E87F7C" ma:contentTypeVersion="5" ma:contentTypeDescription="Create a new document." ma:contentTypeScope="" ma:versionID="44f02589309c4f7864ac5522038a7fe3">
  <xsd:schema xmlns:xsd="http://www.w3.org/2001/XMLSchema" xmlns:xs="http://www.w3.org/2001/XMLSchema" xmlns:p="http://schemas.microsoft.com/office/2006/metadata/properties" xmlns:ns3="d2cf47bf-e3b7-41db-b58a-779501fd7053" targetNamespace="http://schemas.microsoft.com/office/2006/metadata/properties" ma:root="true" ma:fieldsID="c0e33fd0819dbd3a4c38abefc7f40afb" ns3:_="">
    <xsd:import namespace="d2cf47bf-e3b7-41db-b58a-779501fd705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cf47bf-e3b7-41db-b58a-779501fd70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61321B2-6008-45F4-900D-CA364D06D86B}">
  <ds:schemaRefs>
    <ds:schemaRef ds:uri="http://schemas.microsoft.com/office/infopath/2007/PartnerControls"/>
    <ds:schemaRef ds:uri="http://purl.org/dc/terms/"/>
    <ds:schemaRef ds:uri="http://schemas.microsoft.com/office/2006/documentManagement/types"/>
    <ds:schemaRef ds:uri="http://purl.org/dc/elements/1.1/"/>
    <ds:schemaRef ds:uri="http://schemas.openxmlformats.org/package/2006/metadata/core-properties"/>
    <ds:schemaRef ds:uri="d2cf47bf-e3b7-41db-b58a-779501fd7053"/>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61751189-9383-48A5-9B9B-18A2534122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cf47bf-e3b7-41db-b58a-779501fd70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0CAFE33-D31A-451E-85A2-C2565C1C48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Dividend</Template>
  <TotalTime>7929</TotalTime>
  <Words>914</Words>
  <Application>Microsoft Office PowerPoint</Application>
  <PresentationFormat>Widescreen</PresentationFormat>
  <Paragraphs>65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Gill Sans MT</vt:lpstr>
      <vt:lpstr>Majalla UI (Body)</vt:lpstr>
      <vt:lpstr>Times New Roman</vt:lpstr>
      <vt:lpstr>Wingdings 2</vt:lpstr>
      <vt:lpstr>Dividend</vt:lpstr>
      <vt:lpstr>Mansoura University  Faculty of Computers and Information Second Semester- 2025-2026 </vt:lpstr>
      <vt:lpstr>Abstract</vt:lpstr>
      <vt:lpstr>Team members</vt:lpstr>
      <vt:lpstr>1. Introduction</vt:lpstr>
      <vt:lpstr>2. Problem Statement</vt:lpstr>
      <vt:lpstr>3. Objectives</vt:lpstr>
      <vt:lpstr>4. Features</vt:lpstr>
      <vt:lpstr>LogIN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Amira R. Abdo Rezk</dc:creator>
  <cp:lastModifiedBy>Youssef Roshdy</cp:lastModifiedBy>
  <cp:revision>173</cp:revision>
  <dcterms:created xsi:type="dcterms:W3CDTF">2020-09-28T07:50:42Z</dcterms:created>
  <dcterms:modified xsi:type="dcterms:W3CDTF">2026-05-02T19:05:02Z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0x0101000D0F9D61BC598A43AF8403C058E87F7C</vt:lpwstr>
  </property>
</Properties>
</file>